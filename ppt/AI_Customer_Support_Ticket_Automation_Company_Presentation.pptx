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0" y="640080"/>
            <a:ext cx="3108960" cy="109728"/>
          </a:xfrm>
          <a:prstGeom prst="rect">
            <a:avLst/>
          </a:prstGeom>
          <a:solidFill>
            <a:srgbClr val="0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69680" y="960120"/>
            <a:ext cx="2286000" cy="109728"/>
          </a:xfrm>
          <a:prstGeom prst="rect">
            <a:avLst/>
          </a:prstGeom>
          <a:solidFill>
            <a:srgbClr val="35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18320" y="1280160"/>
            <a:ext cx="1463040" cy="109728"/>
          </a:xfrm>
          <a:prstGeom prst="rect">
            <a:avLst/>
          </a:prstGeom>
          <a:solidFill>
            <a:srgbClr val="3FD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7132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35D2FF"/>
                </a:solidFill>
              </a:defRPr>
            </a:pPr>
            <a:r>
              <a:t>DSTARIX TECHNO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7955279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100" b="1">
                <a:solidFill>
                  <a:srgbClr val="F8FAFC"/>
                </a:solidFill>
              </a:defRPr>
            </a:pPr>
            <a:r>
              <a:t>AI Customer Support</a:t>
            </a:r>
            <a:br/>
            <a:r>
              <a:t>&amp; Ticket Automation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971800"/>
            <a:ext cx="7132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AEBED2"/>
                </a:solidFill>
              </a:defRPr>
            </a:pPr>
            <a:r>
              <a:t>Generative AI platform combining RAG, AI agents, tool calling,</a:t>
            </a:r>
            <a:br/>
            <a:r>
              <a:t>conversation memory, business APIs, and human escalation.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4160520"/>
            <a:ext cx="1463040" cy="310896"/>
          </a:xfrm>
          <a:prstGeom prst="roundRect">
            <a:avLst/>
          </a:prstGeom>
          <a:solidFill>
            <a:srgbClr val="35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4169663"/>
            <a:ext cx="1463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A1628"/>
                </a:solidFill>
              </a:defRPr>
            </a:pPr>
            <a:r>
              <a:t>RAG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4160520"/>
            <a:ext cx="1691640" cy="310896"/>
          </a:xfrm>
          <a:prstGeom prst="roundRect">
            <a:avLst/>
          </a:prstGeom>
          <a:solidFill>
            <a:srgbClr val="0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4169663"/>
            <a:ext cx="1691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A1628"/>
                </a:solidFill>
              </a:defRPr>
            </a:pPr>
            <a:r>
              <a:t>AI AGENTS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4160520"/>
            <a:ext cx="1874519" cy="310896"/>
          </a:xfrm>
          <a:prstGeom prst="roundRect">
            <a:avLst/>
          </a:prstGeom>
          <a:solidFill>
            <a:srgbClr val="3FD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4169663"/>
            <a:ext cx="18745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A1628"/>
                </a:solidFill>
              </a:defRPr>
            </a:pPr>
            <a:r>
              <a:t>TOOL CALLING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160520"/>
            <a:ext cx="1874519" cy="310896"/>
          </a:xfrm>
          <a:prstGeom prst="roundRect">
            <a:avLst/>
          </a:prstGeom>
          <a:solidFill>
            <a:srgbClr val="FFA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4169663"/>
            <a:ext cx="18745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A1628"/>
                </a:solidFill>
              </a:defRPr>
            </a:pPr>
            <a:r>
              <a:t>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71500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EBED2"/>
                </a:solidFill>
              </a:defRPr>
            </a:pPr>
            <a:r>
              <a:t>Project presentation • 3-week Generative AI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571500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F8FAFC"/>
                </a:solidFill>
              </a:defRPr>
            </a:pPr>
            <a:r>
              <a:t>Sachin Gond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</a:defRPr>
            </a:pPr>
            <a:r>
              <a:t>1. Problem &amp; 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6012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EBED2"/>
                </a:solidFill>
              </a:defRPr>
            </a:pPr>
            <a:r>
              <a:t>From repetitive support requests to an AI-assisted support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303520" cy="434340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64008" cy="4343400"/>
          </a:xfrm>
          <a:prstGeom prst="rect">
            <a:avLst/>
          </a:prstGeom>
          <a:solidFill>
            <a:srgbClr val="FF6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545336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</a:defRPr>
            </a:pPr>
            <a:r>
              <a:t>The support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920240"/>
            <a:ext cx="502920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AEBED2"/>
                </a:solidFill>
              </a:defRPr>
            </a:pPr>
            <a:r>
              <a:t>Customer-support teams repeatedly handle orders, payments, refunds, cancellations, delivery, product information, accounts, and company policies.</a:t>
            </a:r>
            <a:br/>
            <a:br/>
            <a:r>
              <a:t>A basic LLM chatbot is not enough: action-based requests require real tools, context must persist across turns, and unresolved cases need human intervention.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394960" cy="434340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417320"/>
            <a:ext cx="64008" cy="4343400"/>
          </a:xfrm>
          <a:prstGeom prst="rect">
            <a:avLst/>
          </a:prstGeom>
          <a:solidFill>
            <a:srgbClr val="3FD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545336"/>
            <a:ext cx="5120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</a:defRPr>
            </a:pPr>
            <a:r>
              <a:t>The project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1920240"/>
            <a:ext cx="512064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AEBED2"/>
                </a:solidFill>
              </a:defRPr>
            </a:pPr>
            <a:r>
              <a:t>Build a functional AI customer-support system that can:</a:t>
            </a:r>
            <a:br/>
            <a:br/>
            <a:r>
              <a:t>• Understand customer intent</a:t>
            </a:r>
            <a:br/>
            <a:r>
              <a:t>• Search company knowledge with RAG</a:t>
            </a:r>
            <a:br/>
            <a:r>
              <a:t>• Call operational tools</a:t>
            </a:r>
            <a:br/>
            <a:r>
              <a:t>• Maintain conversation context</a:t>
            </a:r>
            <a:br/>
            <a:r>
              <a:t>• Create support tickets / complaints</a:t>
            </a:r>
            <a:br/>
            <a:r>
              <a:t>• Escalate complex or unresolved issues to humans</a:t>
            </a:r>
            <a:br/>
            <a:r>
              <a:t>• Return grounded, evidence-based responses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EBED2"/>
                </a:solidFill>
              </a:defRPr>
            </a:pPr>
            <a:r>
              <a:t>DSTARIX TECHNO  •  AI Customer Support &amp; Ticket Automation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</a:defRPr>
            </a:pPr>
            <a:r>
              <a:t>2. 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6012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EBED2"/>
                </a:solidFill>
              </a:defRPr>
            </a:pPr>
            <a:r>
              <a:t>One system, two backend roles: AI orchestration + business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1828800" cy="1051560"/>
          </a:xfrm>
          <a:prstGeom prst="roundRect">
            <a:avLst/>
          </a:prstGeom>
          <a:solidFill>
            <a:srgbClr val="162A44"/>
          </a:solidFill>
          <a:ln w="19050">
            <a:solidFill>
              <a:srgbClr val="35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2167128"/>
            <a:ext cx="16824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Customer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514600"/>
            <a:ext cx="1645920" cy="548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AEBED2"/>
                </a:solidFill>
              </a:defRPr>
            </a:pPr>
            <a:r>
              <a:t>Web / Chat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874519"/>
            <a:ext cx="2194560" cy="1417320"/>
          </a:xfrm>
          <a:prstGeom prst="roundRect">
            <a:avLst/>
          </a:prstGeom>
          <a:solidFill>
            <a:srgbClr val="162A44"/>
          </a:solidFill>
          <a:ln w="19050">
            <a:solidFill>
              <a:srgbClr val="00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53512" y="1984248"/>
            <a:ext cx="204825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React 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331720"/>
            <a:ext cx="20116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AEBED2"/>
                </a:solidFill>
              </a:defRPr>
            </a:pPr>
            <a:r>
              <a:t>Vite • Tailwind • Redux • Axios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2120" y="1600200"/>
            <a:ext cx="2514600" cy="1965960"/>
          </a:xfrm>
          <a:prstGeom prst="roundRect">
            <a:avLst/>
          </a:prstGeom>
          <a:solidFill>
            <a:srgbClr val="162A44"/>
          </a:solidFill>
          <a:ln w="19050">
            <a:solidFill>
              <a:srgbClr val="3FD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05272" y="1709928"/>
            <a:ext cx="23682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FastAPI AI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59" y="2057400"/>
            <a:ext cx="233172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AEBED2"/>
                </a:solidFill>
              </a:defRPr>
            </a:pPr>
            <a:r>
              <a:t>Query understanding</a:t>
            </a:r>
            <a:br/>
            <a:r>
              <a:t>Agent workflow</a:t>
            </a:r>
            <a:br/>
            <a:r>
              <a:t>RAG + retrieval</a:t>
            </a:r>
            <a:br/>
            <a:r>
              <a:t>Tool routing</a:t>
            </a:r>
            <a:br/>
            <a:r>
              <a:t>Grounded response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1874519"/>
            <a:ext cx="2148840" cy="1417320"/>
          </a:xfrm>
          <a:prstGeom prst="roundRect">
            <a:avLst/>
          </a:prstGeom>
          <a:solidFill>
            <a:srgbClr val="162A44"/>
          </a:solidFill>
          <a:ln w="19050">
            <a:solidFill>
              <a:srgbClr val="FFA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22792" y="1984248"/>
            <a:ext cx="200253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Node.js 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331720"/>
            <a:ext cx="1965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AEBED2"/>
                </a:solidFill>
              </a:defRPr>
            </a:pPr>
            <a:r>
              <a:t>Business APIs</a:t>
            </a:r>
            <a:br/>
            <a:r>
              <a:t>Orders • Payments • Complaints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468880" y="2578608"/>
            <a:ext cx="411480" cy="0"/>
          </a:xfrm>
          <a:prstGeom prst="line">
            <a:avLst/>
          </a:prstGeom>
          <a:ln w="27940">
            <a:solidFill>
              <a:srgbClr val="00A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074920" y="2578608"/>
            <a:ext cx="457200" cy="0"/>
          </a:xfrm>
          <a:prstGeom prst="line">
            <a:avLst/>
          </a:prstGeom>
          <a:ln w="27940">
            <a:solidFill>
              <a:srgbClr val="00A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046720" y="2578608"/>
            <a:ext cx="502920" cy="0"/>
          </a:xfrm>
          <a:prstGeom prst="line">
            <a:avLst/>
          </a:prstGeom>
          <a:ln w="27940">
            <a:solidFill>
              <a:srgbClr val="00A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743200" y="4069080"/>
            <a:ext cx="2423160" cy="1143000"/>
          </a:xfrm>
          <a:prstGeom prst="roundRect">
            <a:avLst/>
          </a:prstGeom>
          <a:solidFill>
            <a:srgbClr val="162A44"/>
          </a:solidFill>
          <a:ln w="19050">
            <a:solidFill>
              <a:srgbClr val="35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16352" y="4178808"/>
            <a:ext cx="22768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MongoDB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4526280"/>
            <a:ext cx="2240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AEBED2"/>
                </a:solidFill>
              </a:defRPr>
            </a:pPr>
            <a:r>
              <a:t>Memory • knowledge • embeddings</a:t>
            </a:r>
            <a:br/>
            <a:r>
              <a:t>application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0" y="4069080"/>
            <a:ext cx="2423160" cy="1143000"/>
          </a:xfrm>
          <a:prstGeom prst="roundRect">
            <a:avLst/>
          </a:prstGeom>
          <a:solidFill>
            <a:srgbClr val="162A44"/>
          </a:solidFill>
          <a:ln w="19050">
            <a:solidFill>
              <a:srgbClr val="00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42432" y="4178808"/>
            <a:ext cx="22768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Groq LLM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4526280"/>
            <a:ext cx="2240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AEBED2"/>
                </a:solidFill>
              </a:defRPr>
            </a:pPr>
            <a:r>
              <a:t>Grounded response generation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95360" y="4069080"/>
            <a:ext cx="2057400" cy="1143000"/>
          </a:xfrm>
          <a:prstGeom prst="roundRect">
            <a:avLst/>
          </a:prstGeom>
          <a:solidFill>
            <a:srgbClr val="162A44"/>
          </a:solidFill>
          <a:ln w="19050">
            <a:solidFill>
              <a:srgbClr val="FF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68512" y="4178808"/>
            <a:ext cx="19110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Human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526280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AEBED2"/>
                </a:solidFill>
              </a:defRPr>
            </a:pPr>
            <a:r>
              <a:t>Escalation / ticket handling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3977639" y="3566160"/>
            <a:ext cx="2743201" cy="502920"/>
          </a:xfrm>
          <a:prstGeom prst="line">
            <a:avLst/>
          </a:prstGeom>
          <a:ln w="27940">
            <a:solidFill>
              <a:srgbClr val="00A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6903720" y="3566160"/>
            <a:ext cx="411480" cy="502920"/>
          </a:xfrm>
          <a:prstGeom prst="line">
            <a:avLst/>
          </a:prstGeom>
          <a:ln w="27940">
            <a:solidFill>
              <a:srgbClr val="00A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601200" y="3291840"/>
            <a:ext cx="0" cy="777240"/>
          </a:xfrm>
          <a:prstGeom prst="line">
            <a:avLst/>
          </a:prstGeom>
          <a:ln w="27940">
            <a:solidFill>
              <a:srgbClr val="00A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5800" y="5623560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35D2FF"/>
                </a:solidFill>
              </a:defRPr>
            </a:pPr>
            <a:r>
              <a:t>Key design principle: the LLM generates the response, but verified retrieval evidence and tool results remain the source of truth.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EBED2"/>
                </a:solidFill>
              </a:defRPr>
            </a:pPr>
            <a:r>
              <a:t>DSTARIX TECHNO  •  AI Customer Support &amp; Ticket Automation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</a:defRPr>
            </a:pPr>
            <a:r>
              <a:t>3. Complete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6012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EBED2"/>
                </a:solidFill>
              </a:defRPr>
            </a:pPr>
            <a:r>
              <a:t>Presentation → AI orchestration → business services → MongoDB / external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1874519" cy="297180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64008" cy="2971800"/>
          </a:xfrm>
          <a:prstGeom prst="rect">
            <a:avLst/>
          </a:prstGeom>
          <a:solidFill>
            <a:srgbClr val="35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636776"/>
            <a:ext cx="160019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</a:defRPr>
            </a:pPr>
            <a:r>
              <a:t>Presentation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011680"/>
            <a:ext cx="1600199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AEBED2"/>
                </a:solidFill>
              </a:defRPr>
            </a:pPr>
            <a:r>
              <a:t>React + Vite + Tailwind</a:t>
            </a:r>
            <a:br/>
            <a:r>
              <a:t>Auth • Chat • Tickets • User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508760"/>
            <a:ext cx="1874519" cy="297180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508760"/>
            <a:ext cx="64008" cy="2971800"/>
          </a:xfrm>
          <a:prstGeom prst="rect">
            <a:avLst/>
          </a:prstGeom>
          <a:solidFill>
            <a:srgbClr val="0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2" y="1636776"/>
            <a:ext cx="160019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</a:defRPr>
            </a:pPr>
            <a:r>
              <a:t>AI Orchestration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7792" y="2011680"/>
            <a:ext cx="1600199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AEBED2"/>
                </a:solidFill>
              </a:defRPr>
            </a:pPr>
            <a:r>
              <a:t>FastAPI • LangChain • LangGraph</a:t>
            </a:r>
            <a:br/>
            <a:r>
              <a:t>Intent • decomposition • routing • grounded response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1508760"/>
            <a:ext cx="1874519" cy="297180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1508760"/>
            <a:ext cx="64008" cy="2971800"/>
          </a:xfrm>
          <a:prstGeom prst="rect">
            <a:avLst/>
          </a:prstGeom>
          <a:solidFill>
            <a:srgbClr val="FFA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10912" y="1636776"/>
            <a:ext cx="160019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</a:defRPr>
            </a:pPr>
            <a:r>
              <a:t>Business Service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0912" y="2011680"/>
            <a:ext cx="1600199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AEBED2"/>
                </a:solidFill>
              </a:defRPr>
            </a:pPr>
            <a:r>
              <a:t>Node.js + Express</a:t>
            </a:r>
            <a:br/>
            <a:r>
              <a:t>Users • Orders • Payments • Products • Complaints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1508760"/>
            <a:ext cx="1874519" cy="297180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49440" y="1508760"/>
            <a:ext cx="64008" cy="2971800"/>
          </a:xfrm>
          <a:prstGeom prst="rect">
            <a:avLst/>
          </a:prstGeom>
          <a:solidFill>
            <a:srgbClr val="3FD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14031" y="1636776"/>
            <a:ext cx="160019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</a:defRPr>
            </a:pPr>
            <a:r>
              <a:t>Data &amp; Retrieval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2011680"/>
            <a:ext cx="1600199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AEBED2"/>
                </a:solidFill>
              </a:defRPr>
            </a:pPr>
            <a:r>
              <a:t>MongoDB</a:t>
            </a:r>
            <a:br/>
            <a:r>
              <a:t>Memory • documents • embeddings • Vector Search • business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1508760"/>
            <a:ext cx="1874519" cy="297180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1508760"/>
            <a:ext cx="64008" cy="2971800"/>
          </a:xfrm>
          <a:prstGeom prst="rect">
            <a:avLst/>
          </a:prstGeom>
          <a:solidFill>
            <a:srgbClr val="FF6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17152" y="1636776"/>
            <a:ext cx="160019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</a:defRPr>
            </a:pPr>
            <a:r>
              <a:t>External AI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7152" y="2011680"/>
            <a:ext cx="1600199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AEBED2"/>
                </a:solidFill>
              </a:defRPr>
            </a:pPr>
            <a:r>
              <a:t>Groq LLM</a:t>
            </a:r>
            <a:br/>
            <a:r>
              <a:t>Sentence Transformers / reranking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572768" y="4526280"/>
            <a:ext cx="0" cy="731520"/>
          </a:xfrm>
          <a:prstGeom prst="line">
            <a:avLst/>
          </a:prstGeom>
          <a:ln w="19050">
            <a:solidFill>
              <a:srgbClr val="AE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675887" y="4526280"/>
            <a:ext cx="0" cy="731520"/>
          </a:xfrm>
          <a:prstGeom prst="line">
            <a:avLst/>
          </a:prstGeom>
          <a:ln w="19050">
            <a:solidFill>
              <a:srgbClr val="AE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779008" y="4526280"/>
            <a:ext cx="0" cy="731520"/>
          </a:xfrm>
          <a:prstGeom prst="line">
            <a:avLst/>
          </a:prstGeom>
          <a:ln w="19050">
            <a:solidFill>
              <a:srgbClr val="AE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882127" y="4526280"/>
            <a:ext cx="0" cy="731520"/>
          </a:xfrm>
          <a:prstGeom prst="line">
            <a:avLst/>
          </a:prstGeom>
          <a:ln w="19050">
            <a:solidFill>
              <a:srgbClr val="AE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40080" y="5074920"/>
            <a:ext cx="10287000" cy="91440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5074920"/>
            <a:ext cx="64008" cy="914400"/>
          </a:xfrm>
          <a:prstGeom prst="rect">
            <a:avLst/>
          </a:prstGeom>
          <a:solidFill>
            <a:srgbClr val="35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1" y="5202936"/>
            <a:ext cx="10012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</a:defRPr>
            </a:pPr>
            <a:r>
              <a:t>System outcome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1" y="5577840"/>
            <a:ext cx="10012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AEBED2"/>
                </a:solidFill>
              </a:defRPr>
            </a:pPr>
            <a:r>
              <a:t>Customer request is interpreted by the AI layer, routed to RAG or real business tools, grounded with evidence/results, then persisted as conversation memory.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EBED2"/>
                </a:solidFill>
              </a:defRPr>
            </a:pPr>
            <a:r>
              <a:t>DSTARIX TECHNO  •  AI Customer Support &amp; Ticket Automation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</a:defRPr>
            </a:pPr>
            <a:r>
              <a:t>4. End-to-End AI Request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6012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EBED2"/>
                </a:solidFill>
              </a:defRPr>
            </a:pPr>
            <a:r>
              <a:t>The same pipeline handles simple, multi-intent, and action-based requests</a:t>
            </a:r>
          </a:p>
        </p:txBody>
      </p:sp>
      <p:sp>
        <p:nvSpPr>
          <p:cNvPr id="5" name="Oval 4"/>
          <p:cNvSpPr/>
          <p:nvPr/>
        </p:nvSpPr>
        <p:spPr>
          <a:xfrm>
            <a:off x="941832" y="1508760"/>
            <a:ext cx="566928" cy="566928"/>
          </a:xfrm>
          <a:prstGeom prst="ellipse">
            <a:avLst/>
          </a:prstGeom>
          <a:solidFill>
            <a:srgbClr val="35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536192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A1628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40280"/>
            <a:ext cx="14447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F8FAFC"/>
                </a:solidFill>
              </a:defRPr>
            </a:pPr>
            <a:r>
              <a:t>Chat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33472"/>
            <a:ext cx="144475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AEBED2"/>
                </a:solidFill>
              </a:defRPr>
            </a:pPr>
            <a:r>
              <a:t>FastAPI /chat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27048" y="1792224"/>
            <a:ext cx="603504" cy="0"/>
          </a:xfrm>
          <a:prstGeom prst="line">
            <a:avLst/>
          </a:prstGeom>
          <a:ln w="17780">
            <a:solidFill>
              <a:srgbClr val="AE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569464" y="1508760"/>
            <a:ext cx="566928" cy="566928"/>
          </a:xfrm>
          <a:prstGeom prst="ellipse">
            <a:avLst/>
          </a:prstGeom>
          <a:solidFill>
            <a:srgbClr val="0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9464" y="1536192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A1628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30552" y="2240280"/>
            <a:ext cx="14447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F8FAFC"/>
                </a:solidFill>
              </a:defRPr>
            </a:pPr>
            <a:r>
              <a:t>Load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0552" y="2633472"/>
            <a:ext cx="144475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AEBED2"/>
                </a:solidFill>
              </a:defRPr>
            </a:pPr>
            <a:r>
              <a:t>user_id + session_id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54680" y="1792224"/>
            <a:ext cx="603504" cy="0"/>
          </a:xfrm>
          <a:prstGeom prst="line">
            <a:avLst/>
          </a:prstGeom>
          <a:ln w="17780">
            <a:solidFill>
              <a:srgbClr val="AE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197096" y="1508760"/>
            <a:ext cx="566928" cy="566928"/>
          </a:xfrm>
          <a:prstGeom prst="ellipse">
            <a:avLst/>
          </a:prstGeom>
          <a:solidFill>
            <a:srgbClr val="3FD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97096" y="1536192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A1628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58184" y="2240280"/>
            <a:ext cx="14447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F8FAFC"/>
                </a:solidFill>
              </a:defRPr>
            </a:pPr>
            <a:r>
              <a:t>Understand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58184" y="2633472"/>
            <a:ext cx="144475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AEBED2"/>
                </a:solidFill>
              </a:defRPr>
            </a:pPr>
            <a:r>
              <a:t>decompose + intent + entities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82312" y="1792224"/>
            <a:ext cx="603504" cy="0"/>
          </a:xfrm>
          <a:prstGeom prst="line">
            <a:avLst/>
          </a:prstGeom>
          <a:ln w="17780">
            <a:solidFill>
              <a:srgbClr val="AE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824727" y="1508760"/>
            <a:ext cx="566928" cy="566928"/>
          </a:xfrm>
          <a:prstGeom prst="ellipse">
            <a:avLst/>
          </a:prstGeom>
          <a:solidFill>
            <a:srgbClr val="FFA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4727" y="1536192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A1628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85816" y="2240280"/>
            <a:ext cx="14447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F8FAFC"/>
                </a:solidFill>
              </a:defRPr>
            </a:pPr>
            <a:r>
              <a:t>Route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85816" y="2633472"/>
            <a:ext cx="144475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AEBED2"/>
                </a:solidFill>
              </a:defRPr>
            </a:pPr>
            <a:r>
              <a:t>RAG / business tool / escalation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9944" y="1792224"/>
            <a:ext cx="603504" cy="0"/>
          </a:xfrm>
          <a:prstGeom prst="line">
            <a:avLst/>
          </a:prstGeom>
          <a:ln w="17780">
            <a:solidFill>
              <a:srgbClr val="AE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452360" y="1508760"/>
            <a:ext cx="566928" cy="566928"/>
          </a:xfrm>
          <a:prstGeom prst="ellipse">
            <a:avLst/>
          </a:prstGeom>
          <a:solidFill>
            <a:srgbClr val="FF6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1536192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A1628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3448" y="2240280"/>
            <a:ext cx="14447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F8FAFC"/>
                </a:solidFill>
              </a:defRPr>
            </a:pPr>
            <a: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2633472"/>
            <a:ext cx="144475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AEBED2"/>
                </a:solidFill>
              </a:defRPr>
            </a:pPr>
            <a:r>
              <a:t>evidence + structured results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037575" y="1792224"/>
            <a:ext cx="603505" cy="0"/>
          </a:xfrm>
          <a:prstGeom prst="line">
            <a:avLst/>
          </a:prstGeom>
          <a:ln w="17780">
            <a:solidFill>
              <a:srgbClr val="AE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9079992" y="1508760"/>
            <a:ext cx="566928" cy="566928"/>
          </a:xfrm>
          <a:prstGeom prst="ellipse">
            <a:avLst/>
          </a:prstGeom>
          <a:solidFill>
            <a:srgbClr val="0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9992" y="1536192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A1628"/>
                </a:solidFill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2240280"/>
            <a:ext cx="14447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F8FAFC"/>
                </a:solidFill>
              </a:defRPr>
            </a:pPr>
            <a:r>
              <a:t>Generate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2633472"/>
            <a:ext cx="144475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AEBED2"/>
                </a:solidFill>
              </a:defRPr>
            </a:pPr>
            <a:r>
              <a:t>grounded Groq response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65208" y="1792224"/>
            <a:ext cx="603504" cy="0"/>
          </a:xfrm>
          <a:prstGeom prst="line">
            <a:avLst/>
          </a:prstGeom>
          <a:ln w="17780">
            <a:solidFill>
              <a:srgbClr val="AE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10707624" y="1508760"/>
            <a:ext cx="566928" cy="566928"/>
          </a:xfrm>
          <a:prstGeom prst="ellipse">
            <a:avLst/>
          </a:prstGeom>
          <a:solidFill>
            <a:srgbClr val="35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07624" y="1536192"/>
            <a:ext cx="5669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A1628"/>
                </a:solidFill>
              </a:defRPr>
            </a:pPr>
            <a: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68712" y="2240280"/>
            <a:ext cx="14447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F8FAFC"/>
                </a:solidFill>
              </a:defRPr>
            </a:pPr>
            <a:r>
              <a:t>Persist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68712" y="2633472"/>
            <a:ext cx="144475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AEBED2"/>
                </a:solidFill>
              </a:defRPr>
            </a:pPr>
            <a:r>
              <a:t>save conversation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3749039"/>
            <a:ext cx="5166360" cy="150876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85800" y="3749039"/>
            <a:ext cx="64008" cy="1508760"/>
          </a:xfrm>
          <a:prstGeom prst="rect">
            <a:avLst/>
          </a:prstGeom>
          <a:solidFill>
            <a:srgbClr val="3FD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0392" y="3877055"/>
            <a:ext cx="4892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</a:defRPr>
            </a:pPr>
            <a:r>
              <a:t>Example: action request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" y="4251959"/>
            <a:ext cx="4892040" cy="914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EBED2"/>
                </a:solidFill>
              </a:defRPr>
            </a:pPr>
            <a:r>
              <a:t>"What is the status of order ORD123?"</a:t>
            </a:r>
            <a:br/>
            <a:br/>
            <a:r>
              <a:t>Intent → ORDER_STATUS → extract order ID → call order tool → verify result → grounded answer.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72200" y="3749039"/>
            <a:ext cx="5166360" cy="150876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72200" y="3749039"/>
            <a:ext cx="64008" cy="1508760"/>
          </a:xfrm>
          <a:prstGeom prst="rect">
            <a:avLst/>
          </a:prstGeom>
          <a:solidFill>
            <a:srgbClr val="35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36792" y="3877055"/>
            <a:ext cx="4892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</a:defRPr>
            </a:pPr>
            <a:r>
              <a:t>Example: knowledge request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36792" y="4251959"/>
            <a:ext cx="4892040" cy="914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EBED2"/>
                </a:solidFill>
              </a:defRPr>
            </a:pPr>
            <a:r>
              <a:t>"What is your refund policy?"</a:t>
            </a:r>
            <a:br/>
            <a:br/>
            <a:r>
              <a:t>Intent → KNOWLEDGE_SEARCH → hybrid retrieval → reranking → evidence → grounded answer.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EBED2"/>
                </a:solidFill>
              </a:defRPr>
            </a:pPr>
            <a:r>
              <a:t>DSTARIX TECHNO  •  AI Customer Support &amp; Ticket Automation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</a:defRPr>
            </a:pPr>
            <a:r>
              <a:t>5. RAG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6012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EBED2"/>
                </a:solidFill>
              </a:defRPr>
            </a:pPr>
            <a:r>
              <a:t>Knowledge-base answers use hybrid retrieval and reranking before the LLM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600200"/>
            <a:ext cx="1417320" cy="1325880"/>
          </a:xfrm>
          <a:prstGeom prst="roundRect">
            <a:avLst/>
          </a:prstGeom>
          <a:solidFill>
            <a:srgbClr val="162A44"/>
          </a:solidFill>
          <a:ln w="19050">
            <a:solidFill>
              <a:srgbClr val="35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709928"/>
            <a:ext cx="127101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8FAFC"/>
                </a:solidFill>
              </a:defRPr>
            </a:pPr>
            <a:r>
              <a:t>Documents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57400"/>
            <a:ext cx="123444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AEBED2"/>
                </a:solidFill>
              </a:defRPr>
            </a:pPr>
            <a:r>
              <a:t>PDF • TXT • JSON</a:t>
            </a:r>
            <a:br/>
            <a:r>
              <a:t>CSV • XLSX • DOCX • MD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28800" y="2267712"/>
            <a:ext cx="256032" cy="0"/>
          </a:xfrm>
          <a:prstGeom prst="line">
            <a:avLst/>
          </a:prstGeom>
          <a:ln w="16510">
            <a:solidFill>
              <a:srgbClr val="AE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84832" y="1600200"/>
            <a:ext cx="1417320" cy="1325880"/>
          </a:xfrm>
          <a:prstGeom prst="roundRect">
            <a:avLst/>
          </a:prstGeom>
          <a:solidFill>
            <a:srgbClr val="162A44"/>
          </a:solidFill>
          <a:ln w="19050">
            <a:solidFill>
              <a:srgbClr val="00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57984" y="1709928"/>
            <a:ext cx="127101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8FAFC"/>
                </a:solidFill>
              </a:defRPr>
            </a:pPr>
            <a:r>
              <a:t>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6272" y="2057400"/>
            <a:ext cx="123444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AEBED2"/>
                </a:solidFill>
              </a:defRPr>
            </a:pPr>
            <a:r>
              <a:t>Extract text</a:t>
            </a:r>
            <a:br/>
            <a:r>
              <a:t>Chunk documents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02152" y="2267712"/>
            <a:ext cx="256032" cy="0"/>
          </a:xfrm>
          <a:prstGeom prst="line">
            <a:avLst/>
          </a:prstGeom>
          <a:ln w="16510">
            <a:solidFill>
              <a:srgbClr val="AE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758184" y="1600200"/>
            <a:ext cx="1417320" cy="1325880"/>
          </a:xfrm>
          <a:prstGeom prst="roundRect">
            <a:avLst/>
          </a:prstGeom>
          <a:solidFill>
            <a:srgbClr val="162A44"/>
          </a:solidFill>
          <a:ln w="19050">
            <a:solidFill>
              <a:srgbClr val="3FD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31336" y="1709928"/>
            <a:ext cx="127101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8FAFC"/>
                </a:solidFill>
              </a:defRPr>
            </a:pPr>
            <a:r>
              <a:t>Embeddings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9624" y="2057400"/>
            <a:ext cx="123444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AEBED2"/>
                </a:solidFill>
              </a:defRPr>
            </a:pPr>
            <a:r>
              <a:t>Sentence Transformer</a:t>
            </a:r>
            <a:br/>
            <a:r>
              <a:t>vector representation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175504" y="2267712"/>
            <a:ext cx="256032" cy="0"/>
          </a:xfrm>
          <a:prstGeom prst="line">
            <a:avLst/>
          </a:prstGeom>
          <a:ln w="16510">
            <a:solidFill>
              <a:srgbClr val="AE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431536" y="1600200"/>
            <a:ext cx="1417320" cy="1325880"/>
          </a:xfrm>
          <a:prstGeom prst="roundRect">
            <a:avLst/>
          </a:prstGeom>
          <a:solidFill>
            <a:srgbClr val="162A44"/>
          </a:solidFill>
          <a:ln w="19050">
            <a:solidFill>
              <a:srgbClr val="FFA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04688" y="1709928"/>
            <a:ext cx="127101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8FAFC"/>
                </a:solidFill>
              </a:defRPr>
            </a:pPr>
            <a:r>
              <a:t>MongoDB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22976" y="2057400"/>
            <a:ext cx="123444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AEBED2"/>
                </a:solidFill>
              </a:defRPr>
            </a:pPr>
            <a:r>
              <a:t>Chunks + metadata</a:t>
            </a:r>
            <a:br/>
            <a:r>
              <a:t>embeddings + vector index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48856" y="2267712"/>
            <a:ext cx="256032" cy="0"/>
          </a:xfrm>
          <a:prstGeom prst="line">
            <a:avLst/>
          </a:prstGeom>
          <a:ln w="16510">
            <a:solidFill>
              <a:srgbClr val="AE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104888" y="1600200"/>
            <a:ext cx="1417320" cy="1325880"/>
          </a:xfrm>
          <a:prstGeom prst="roundRect">
            <a:avLst/>
          </a:prstGeom>
          <a:solidFill>
            <a:srgbClr val="162A44"/>
          </a:solidFill>
          <a:ln w="19050">
            <a:solidFill>
              <a:srgbClr val="00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1709928"/>
            <a:ext cx="127101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8FAFC"/>
                </a:solidFill>
              </a:defRPr>
            </a:pPr>
            <a:r>
              <a:t>Retrieval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96328" y="2057400"/>
            <a:ext cx="123444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AEBED2"/>
                </a:solidFill>
              </a:defRPr>
            </a:pPr>
            <a:r>
              <a:t>Vector Search + BM25</a:t>
            </a:r>
            <a:br/>
            <a:r>
              <a:t>hybrid candidates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22208" y="2267712"/>
            <a:ext cx="256032" cy="0"/>
          </a:xfrm>
          <a:prstGeom prst="line">
            <a:avLst/>
          </a:prstGeom>
          <a:ln w="16510">
            <a:solidFill>
              <a:srgbClr val="AE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778240" y="1600200"/>
            <a:ext cx="1417320" cy="1325880"/>
          </a:xfrm>
          <a:prstGeom prst="roundRect">
            <a:avLst/>
          </a:prstGeom>
          <a:solidFill>
            <a:srgbClr val="162A44"/>
          </a:solidFill>
          <a:ln w="19050">
            <a:solidFill>
              <a:srgbClr val="FF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51392" y="1709928"/>
            <a:ext cx="127101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8FAFC"/>
                </a:solidFill>
              </a:defRPr>
            </a:pPr>
            <a:r>
              <a:t>Rerank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2057400"/>
            <a:ext cx="123444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AEBED2"/>
                </a:solidFill>
              </a:defRPr>
            </a:pPr>
            <a:r>
              <a:t>Cross-Encoder</a:t>
            </a:r>
            <a:br/>
            <a:r>
              <a:t>relevance scoring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195560" y="2267712"/>
            <a:ext cx="256032" cy="0"/>
          </a:xfrm>
          <a:prstGeom prst="line">
            <a:avLst/>
          </a:prstGeom>
          <a:ln w="16510">
            <a:solidFill>
              <a:srgbClr val="AE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0451592" y="1600200"/>
            <a:ext cx="1417320" cy="1325880"/>
          </a:xfrm>
          <a:prstGeom prst="roundRect">
            <a:avLst/>
          </a:prstGeom>
          <a:solidFill>
            <a:srgbClr val="162A44"/>
          </a:solidFill>
          <a:ln w="19050">
            <a:solidFill>
              <a:srgbClr val="35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24744" y="1709928"/>
            <a:ext cx="127101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8FAFC"/>
                </a:solidFill>
              </a:defRPr>
            </a:pPr>
            <a:r>
              <a:t>Grounded LLM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43032" y="2057400"/>
            <a:ext cx="123444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AEBED2"/>
                </a:solidFill>
              </a:defRPr>
            </a:pPr>
            <a:r>
              <a:t>Top evidence → Groq</a:t>
            </a:r>
            <a:br/>
            <a:r>
              <a:t>answer with context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3657600"/>
            <a:ext cx="3429000" cy="141732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" y="3657600"/>
            <a:ext cx="64008" cy="1417320"/>
          </a:xfrm>
          <a:prstGeom prst="rect">
            <a:avLst/>
          </a:prstGeom>
          <a:solidFill>
            <a:srgbClr val="0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" y="3785615"/>
            <a:ext cx="3154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</a:defRPr>
            </a:pPr>
            <a:r>
              <a:t>Semantic retrieval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" y="416052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AEBED2"/>
                </a:solidFill>
              </a:defRPr>
            </a:pPr>
            <a:r>
              <a:t>MongoDB Vector Search finds content by meaning, not only exact words.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89120" y="3657600"/>
            <a:ext cx="3429000" cy="141732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89120" y="3657600"/>
            <a:ext cx="64008" cy="1417320"/>
          </a:xfrm>
          <a:prstGeom prst="rect">
            <a:avLst/>
          </a:prstGeom>
          <a:solidFill>
            <a:srgbClr val="3FD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53712" y="3785615"/>
            <a:ext cx="3154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</a:defRPr>
            </a:pPr>
            <a:r>
              <a:t>Lexical retrieval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3712" y="416052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AEBED2"/>
                </a:solidFill>
              </a:defRPr>
            </a:pPr>
            <a:r>
              <a:t>BM25 helps recover exact terminology, identifiers, and keyword matches.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92440" y="3657600"/>
            <a:ext cx="3429000" cy="141732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92440" y="3657600"/>
            <a:ext cx="64008" cy="1417320"/>
          </a:xfrm>
          <a:prstGeom prst="rect">
            <a:avLst/>
          </a:prstGeom>
          <a:solidFill>
            <a:srgbClr val="FFA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57031" y="3785615"/>
            <a:ext cx="3154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</a:defRPr>
            </a:pPr>
            <a:r>
              <a:t>Reranking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57031" y="416052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AEBED2"/>
                </a:solidFill>
              </a:defRPr>
            </a:pPr>
            <a:r>
              <a:t>Cross-Encoder reorders candidates so the most relevant evidence reaches the LLM.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6235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35D2FF"/>
                </a:solidFill>
              </a:defRPr>
            </a:pPr>
            <a:r>
              <a:t>Result: the answer is grounded in retrieved company information instead of relying on model memory alone.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EBED2"/>
                </a:solidFill>
              </a:defRPr>
            </a:pPr>
            <a:r>
              <a:t>DSTARIX TECHNO  •  AI Customer Support &amp; Ticket Automation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</a:defRPr>
            </a:pPr>
            <a:r>
              <a:t>6. AI Agent &amp; Tool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6012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EBED2"/>
                </a:solidFill>
              </a:defRPr>
            </a:pPr>
            <a:r>
              <a:t>The agent decides what the customer request requires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657600" cy="429768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64008" cy="4297680"/>
          </a:xfrm>
          <a:prstGeom prst="rect">
            <a:avLst/>
          </a:prstGeom>
          <a:solidFill>
            <a:srgbClr val="0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545336"/>
            <a:ext cx="3383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</a:defRPr>
            </a:pPr>
            <a:r>
              <a:t>Query Processing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920240"/>
            <a:ext cx="3383280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EBED2"/>
                </a:solidFill>
              </a:defRPr>
            </a:pPr>
            <a:r>
              <a:t>1. Receives customer query</a:t>
            </a:r>
            <a:br/>
            <a:br/>
            <a:r>
              <a:t>2. Decomposes complex requests</a:t>
            </a:r>
            <a:br/>
            <a:br/>
            <a:r>
              <a:t>3. Detects intent for each sub-query</a:t>
            </a:r>
            <a:br/>
            <a:br/>
            <a:r>
              <a:t>4. Extracts references such as order_id, payment_id, product_id, ticket_id</a:t>
            </a:r>
            <a:br/>
            <a:br/>
            <a:r>
              <a:t>5. Routes to the correct operation</a:t>
            </a:r>
            <a:br/>
            <a:br/>
            <a:r>
              <a:t>6. Collects evidence and structured 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2057400"/>
            <a:ext cx="2240280" cy="1097280"/>
          </a:xfrm>
          <a:prstGeom prst="roundRect">
            <a:avLst/>
          </a:prstGeom>
          <a:solidFill>
            <a:srgbClr val="162A44"/>
          </a:solidFill>
          <a:ln w="19050">
            <a:solidFill>
              <a:srgbClr val="3FD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2167128"/>
            <a:ext cx="20939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Operation Router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59" y="2514600"/>
            <a:ext cx="2057400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AEBED2"/>
                </a:solidFill>
              </a:defRPr>
            </a:pPr>
            <a:r>
              <a:t>RAG / tool / escalation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251960" y="2606040"/>
            <a:ext cx="365760" cy="228600"/>
          </a:xfrm>
          <a:prstGeom prst="line">
            <a:avLst/>
          </a:prstGeom>
          <a:ln w="27940">
            <a:solidFill>
              <a:srgbClr val="00A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23760" y="1417320"/>
            <a:ext cx="1737360" cy="960120"/>
          </a:xfrm>
          <a:prstGeom prst="roundRect">
            <a:avLst/>
          </a:prstGeom>
          <a:solidFill>
            <a:srgbClr val="162A44"/>
          </a:solidFill>
          <a:ln w="19050">
            <a:solidFill>
              <a:srgbClr val="35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1527048"/>
            <a:ext cx="15910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F8FAFC"/>
                </a:solidFill>
              </a:defRPr>
            </a:pPr>
            <a:r>
              <a:t>Knowledge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874519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AEBED2"/>
                </a:solidFill>
              </a:defRPr>
            </a:pPr>
            <a:r>
              <a:t>MongoDB Vector + BM25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6858000" y="1892808"/>
            <a:ext cx="365760" cy="713232"/>
          </a:xfrm>
          <a:prstGeom prst="line">
            <a:avLst/>
          </a:prstGeom>
          <a:ln w="13970">
            <a:solidFill>
              <a:srgbClr val="AE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372600" y="1417320"/>
            <a:ext cx="1737360" cy="960120"/>
          </a:xfrm>
          <a:prstGeom prst="roundRect">
            <a:avLst/>
          </a:prstGeom>
          <a:solidFill>
            <a:srgbClr val="162A44"/>
          </a:solidFill>
          <a:ln w="19050">
            <a:solidFill>
              <a:srgbClr val="00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45752" y="1527048"/>
            <a:ext cx="15910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F8FAFC"/>
                </a:solidFill>
              </a:defRPr>
            </a:pPr>
            <a:r>
              <a:t>Order 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1874519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AEBED2"/>
                </a:solidFill>
              </a:defRPr>
            </a:pPr>
            <a:r>
              <a:t>Order API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6858000" y="1892808"/>
            <a:ext cx="2514600" cy="713232"/>
          </a:xfrm>
          <a:prstGeom prst="line">
            <a:avLst/>
          </a:prstGeom>
          <a:ln w="13970">
            <a:solidFill>
              <a:srgbClr val="AE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223760" y="2834640"/>
            <a:ext cx="1737360" cy="960120"/>
          </a:xfrm>
          <a:prstGeom prst="roundRect">
            <a:avLst/>
          </a:prstGeom>
          <a:solidFill>
            <a:srgbClr val="162A44"/>
          </a:solidFill>
          <a:ln w="19050">
            <a:solidFill>
              <a:srgbClr val="3FD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96912" y="2944368"/>
            <a:ext cx="15910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F8FAFC"/>
                </a:solidFill>
              </a:defRPr>
            </a:pPr>
            <a:r>
              <a:t>Payment 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29184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AEBED2"/>
                </a:solidFill>
              </a:defRPr>
            </a:pPr>
            <a:r>
              <a:t>Payment API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0" y="2606040"/>
            <a:ext cx="365760" cy="704088"/>
          </a:xfrm>
          <a:prstGeom prst="line">
            <a:avLst/>
          </a:prstGeom>
          <a:ln w="13970">
            <a:solidFill>
              <a:srgbClr val="AE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372600" y="2834640"/>
            <a:ext cx="1737360" cy="960120"/>
          </a:xfrm>
          <a:prstGeom prst="roundRect">
            <a:avLst/>
          </a:prstGeom>
          <a:solidFill>
            <a:srgbClr val="162A44"/>
          </a:solidFill>
          <a:ln w="19050">
            <a:solidFill>
              <a:srgbClr val="FFA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45752" y="2944368"/>
            <a:ext cx="15910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F8FAFC"/>
                </a:solidFill>
              </a:defRPr>
            </a:pPr>
            <a:r>
              <a:t>Product 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329184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AEBED2"/>
                </a:solidFill>
              </a:defRPr>
            </a:pPr>
            <a:r>
              <a:t>Product API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58000" y="2606040"/>
            <a:ext cx="2514600" cy="704088"/>
          </a:xfrm>
          <a:prstGeom prst="line">
            <a:avLst/>
          </a:prstGeom>
          <a:ln w="13970">
            <a:solidFill>
              <a:srgbClr val="AE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223760" y="4251960"/>
            <a:ext cx="1737360" cy="960120"/>
          </a:xfrm>
          <a:prstGeom prst="roundRect">
            <a:avLst/>
          </a:prstGeom>
          <a:solidFill>
            <a:srgbClr val="162A44"/>
          </a:solidFill>
          <a:ln w="19050">
            <a:solidFill>
              <a:srgbClr val="FF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96912" y="4361688"/>
            <a:ext cx="15910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F8FAFC"/>
                </a:solidFill>
              </a:defRPr>
            </a:pPr>
            <a:r>
              <a:t>Complaints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470916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AEBED2"/>
                </a:solidFill>
              </a:defRPr>
            </a:pPr>
            <a:r>
              <a:t>Create / get complaints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58000" y="2606040"/>
            <a:ext cx="365760" cy="2121408"/>
          </a:xfrm>
          <a:prstGeom prst="line">
            <a:avLst/>
          </a:prstGeom>
          <a:ln w="13970">
            <a:solidFill>
              <a:srgbClr val="AE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372600" y="4251960"/>
            <a:ext cx="1737360" cy="960120"/>
          </a:xfrm>
          <a:prstGeom prst="roundRect">
            <a:avLst/>
          </a:prstGeom>
          <a:solidFill>
            <a:srgbClr val="162A44"/>
          </a:solidFill>
          <a:ln w="19050">
            <a:solidFill>
              <a:srgbClr val="35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45752" y="4361688"/>
            <a:ext cx="15910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F8FAFC"/>
                </a:solidFill>
              </a:defRPr>
            </a:pPr>
            <a:r>
              <a:t>Human Escalation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64040" y="470916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AEBED2"/>
                </a:solidFill>
              </a:defRPr>
            </a:pPr>
            <a:r>
              <a:t>Ticket / escalation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858000" y="2606040"/>
            <a:ext cx="2514600" cy="2121408"/>
          </a:xfrm>
          <a:prstGeom prst="line">
            <a:avLst/>
          </a:prstGeom>
          <a:ln w="13970">
            <a:solidFill>
              <a:srgbClr val="AE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85800" y="59436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AEBED2"/>
                </a:solidFill>
              </a:defRPr>
            </a:pPr>
            <a:r>
              <a:t>The architecture supports both single-intent and multi-intent conversations.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EBED2"/>
                </a:solidFill>
              </a:defRPr>
            </a:pPr>
            <a:r>
              <a:t>DSTARIX TECHNO  •  AI Customer Support &amp; Ticket Automation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</a:defRPr>
            </a:pPr>
            <a:r>
              <a:t>7. Conversation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6012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EBED2"/>
                </a:solidFill>
              </a:defRPr>
            </a:pPr>
            <a:r>
              <a:t>MongoDB preserves session context and enables multi-turn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1965960" cy="1051560"/>
          </a:xfrm>
          <a:prstGeom prst="roundRect">
            <a:avLst/>
          </a:prstGeom>
          <a:solidFill>
            <a:srgbClr val="162A44"/>
          </a:solidFill>
          <a:ln w="19050">
            <a:solidFill>
              <a:srgbClr val="35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75564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Customer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783080" cy="548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AEBED2"/>
                </a:solidFill>
              </a:defRPr>
            </a:pPr>
            <a:r>
              <a:t>"My order is ORD123"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1645920"/>
            <a:ext cx="2057400" cy="1051560"/>
          </a:xfrm>
          <a:prstGeom prst="roundRect">
            <a:avLst/>
          </a:prstGeom>
          <a:solidFill>
            <a:srgbClr val="162A44"/>
          </a:solidFill>
          <a:ln w="19050">
            <a:solidFill>
              <a:srgbClr val="00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36392" y="1755648"/>
            <a:ext cx="19110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AI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103120"/>
            <a:ext cx="1874519" cy="548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AEBED2"/>
                </a:solidFill>
              </a:defRPr>
            </a:pPr>
            <a:r>
              <a:t>Acknowledges order 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1508760"/>
            <a:ext cx="2423160" cy="1325880"/>
          </a:xfrm>
          <a:prstGeom prst="roundRect">
            <a:avLst/>
          </a:prstGeom>
          <a:solidFill>
            <a:srgbClr val="162A44"/>
          </a:solidFill>
          <a:ln w="19050">
            <a:solidFill>
              <a:srgbClr val="3FD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50992" y="1618488"/>
            <a:ext cx="22768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MongoDB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79" y="1965960"/>
            <a:ext cx="2240279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AEBED2"/>
                </a:solidFill>
              </a:defRPr>
            </a:pPr>
            <a:r>
              <a:t>user_id</a:t>
            </a:r>
            <a:br/>
            <a:r>
              <a:t>session_id</a:t>
            </a:r>
            <a:br/>
            <a:r>
              <a:t>messages[]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1645920"/>
            <a:ext cx="2606040" cy="1051560"/>
          </a:xfrm>
          <a:prstGeom prst="roundRect">
            <a:avLst/>
          </a:prstGeom>
          <a:solidFill>
            <a:srgbClr val="162A44"/>
          </a:solidFill>
          <a:ln w="19050">
            <a:solidFill>
              <a:srgbClr val="FFA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31352" y="1755648"/>
            <a:ext cx="245973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Follow-up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103120"/>
            <a:ext cx="2423160" cy="548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AEBED2"/>
                </a:solidFill>
              </a:defRPr>
            </a:pPr>
            <a:r>
              <a:t>"When will it arrive?"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51760" y="2176272"/>
            <a:ext cx="411480" cy="0"/>
          </a:xfrm>
          <a:prstGeom prst="line">
            <a:avLst/>
          </a:prstGeom>
          <a:ln w="27940">
            <a:solidFill>
              <a:srgbClr val="00A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120640" y="2176272"/>
            <a:ext cx="457200" cy="0"/>
          </a:xfrm>
          <a:prstGeom prst="line">
            <a:avLst/>
          </a:prstGeom>
          <a:ln w="27940">
            <a:solidFill>
              <a:srgbClr val="00A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001000" y="2176272"/>
            <a:ext cx="457200" cy="0"/>
          </a:xfrm>
          <a:prstGeom prst="line">
            <a:avLst/>
          </a:prstGeom>
          <a:ln w="27940">
            <a:solidFill>
              <a:srgbClr val="00A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766560" y="2743200"/>
            <a:ext cx="3017520" cy="1051560"/>
          </a:xfrm>
          <a:prstGeom prst="line">
            <a:avLst/>
          </a:prstGeom>
          <a:ln w="17780">
            <a:solidFill>
              <a:srgbClr val="AE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85800" y="3703320"/>
            <a:ext cx="3337560" cy="160020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703320"/>
            <a:ext cx="64008" cy="1600200"/>
          </a:xfrm>
          <a:prstGeom prst="rect">
            <a:avLst/>
          </a:prstGeom>
          <a:solidFill>
            <a:srgbClr val="0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3831335"/>
            <a:ext cx="3063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</a:defRPr>
            </a:pPr>
            <a:r>
              <a:t>Context retrieval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4206240"/>
            <a:ext cx="3063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EBED2"/>
                </a:solidFill>
              </a:defRPr>
            </a:pPr>
            <a:r>
              <a:t>Load recent messages using user_id + session_id before processing the new request.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703320"/>
            <a:ext cx="3337560" cy="160020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3703320"/>
            <a:ext cx="64008" cy="1600200"/>
          </a:xfrm>
          <a:prstGeom prst="rect">
            <a:avLst/>
          </a:prstGeom>
          <a:solidFill>
            <a:srgbClr val="3FD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3831335"/>
            <a:ext cx="3063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</a:defRPr>
            </a:pPr>
            <a:r>
              <a:t>Reference reuse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4206240"/>
            <a:ext cx="3063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EBED2"/>
                </a:solidFill>
              </a:defRPr>
            </a:pPr>
            <a:r>
              <a:t>Previously mentioned identifiers can be reused for follow-up requests.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3703320"/>
            <a:ext cx="3337560" cy="160020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92440" y="3703320"/>
            <a:ext cx="64008" cy="1600200"/>
          </a:xfrm>
          <a:prstGeom prst="rect">
            <a:avLst/>
          </a:prstGeom>
          <a:solidFill>
            <a:srgbClr val="FFA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1" y="3831335"/>
            <a:ext cx="3063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</a:defRPr>
            </a:pPr>
            <a:r>
              <a:t>Persistence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4206240"/>
            <a:ext cx="3063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EBED2"/>
                </a:solidFill>
              </a:defRPr>
            </a:pPr>
            <a:r>
              <a:t>User and assistant messages are saved back to MongoDB after the response.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71500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35D2FF"/>
                </a:solidFill>
              </a:defRPr>
            </a:pPr>
            <a:r>
              <a:t>Example: "My order number is ORD123" → later "When will it arrive?" can resolve "it" using stored context.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EBED2"/>
                </a:solidFill>
              </a:defRPr>
            </a:pPr>
            <a:r>
              <a:t>DSTARIX TECHNO  •  AI Customer Support &amp; Ticket Automation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</a:defRPr>
            </a:pPr>
            <a:r>
              <a:t>8. Business Operations &amp; Human Escalation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6012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EBED2"/>
                </a:solidFill>
              </a:defRPr>
            </a:pPr>
            <a:r>
              <a:t>AI orchestration connects natural language requests to real application logic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337560" cy="123444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64008" cy="1234440"/>
          </a:xfrm>
          <a:prstGeom prst="rect">
            <a:avLst/>
          </a:prstGeom>
          <a:solidFill>
            <a:srgbClr val="0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545336"/>
            <a:ext cx="3063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</a:defRPr>
            </a:pPr>
            <a:r>
              <a:t>ORDER_STATUS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920240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AEBED2"/>
                </a:solidFill>
              </a:defRPr>
            </a:pPr>
            <a:r>
              <a:t>Check order details</a:t>
            </a:r>
            <a:br/>
            <a:r>
              <a:t>using order 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37560" cy="123444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64008" cy="1234440"/>
          </a:xfrm>
          <a:prstGeom prst="rect">
            <a:avLst/>
          </a:prstGeom>
          <a:solidFill>
            <a:srgbClr val="3FD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545336"/>
            <a:ext cx="3063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</a:defRPr>
            </a:pPr>
            <a:r>
              <a:t>PAYMENT_STATUS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920240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AEBED2"/>
                </a:solidFill>
              </a:defRPr>
            </a:pPr>
            <a:r>
              <a:t>Verify payment</a:t>
            </a:r>
            <a:br/>
            <a:r>
              <a:t>using payment reference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417320"/>
            <a:ext cx="3337560" cy="123444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80" y="1417320"/>
            <a:ext cx="64008" cy="1234440"/>
          </a:xfrm>
          <a:prstGeom prst="rect">
            <a:avLst/>
          </a:prstGeom>
          <a:solidFill>
            <a:srgbClr val="35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2" y="1545336"/>
            <a:ext cx="3063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</a:defRPr>
            </a:pPr>
            <a:r>
              <a:t>PRODUCT_SEARCH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1920240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AEBED2"/>
                </a:solidFill>
              </a:defRPr>
            </a:pPr>
            <a:r>
              <a:t>Retrieve product</a:t>
            </a:r>
            <a:br/>
            <a:r>
              <a:t>information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926080"/>
            <a:ext cx="3337560" cy="123444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2926080"/>
            <a:ext cx="64008" cy="1234440"/>
          </a:xfrm>
          <a:prstGeom prst="rect">
            <a:avLst/>
          </a:prstGeom>
          <a:solidFill>
            <a:srgbClr val="FFA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054096"/>
            <a:ext cx="3063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</a:defRPr>
            </a:pPr>
            <a:r>
              <a:t>CREATE_COMPLAINT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3429000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AEBED2"/>
                </a:solidFill>
              </a:defRPr>
            </a:pPr>
            <a:r>
              <a:t>Create customer</a:t>
            </a:r>
            <a:br/>
            <a:r>
              <a:t>support complaint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2926080"/>
            <a:ext cx="3337560" cy="123444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2926080"/>
            <a:ext cx="64008" cy="1234440"/>
          </a:xfrm>
          <a:prstGeom prst="rect">
            <a:avLst/>
          </a:prstGeom>
          <a:solidFill>
            <a:srgbClr val="0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3712" y="3054096"/>
            <a:ext cx="3063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</a:defRPr>
            </a:pPr>
            <a:r>
              <a:t>GET_COMPLAINTS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3429000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AEBED2"/>
                </a:solidFill>
              </a:defRPr>
            </a:pPr>
            <a:r>
              <a:t>Retrieve customer's</a:t>
            </a:r>
            <a:br/>
            <a:r>
              <a:t>existing complaints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2926080"/>
            <a:ext cx="3337560" cy="123444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80" y="2926080"/>
            <a:ext cx="64008" cy="1234440"/>
          </a:xfrm>
          <a:prstGeom prst="rect">
            <a:avLst/>
          </a:prstGeom>
          <a:solidFill>
            <a:srgbClr val="FF6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8472" y="3054096"/>
            <a:ext cx="3063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</a:defRPr>
            </a:pPr>
            <a:r>
              <a:t>HUMAN_ESCALATION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2" y="3429000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AEBED2"/>
                </a:solidFill>
              </a:defRPr>
            </a:pPr>
            <a:r>
              <a:t>Create escalation</a:t>
            </a:r>
            <a:br/>
            <a:r>
              <a:t>when AI cannot resolve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709160"/>
            <a:ext cx="5074920" cy="105156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" y="4709160"/>
            <a:ext cx="64008" cy="1051560"/>
          </a:xfrm>
          <a:prstGeom prst="rect">
            <a:avLst/>
          </a:prstGeom>
          <a:solidFill>
            <a:srgbClr val="FF6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4837176"/>
            <a:ext cx="4800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</a:defRPr>
            </a:pPr>
            <a:r>
              <a:t>Escalation triggers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" y="5212080"/>
            <a:ext cx="4800600" cy="457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EBED2"/>
                </a:solidFill>
              </a:defRPr>
            </a:pPr>
            <a:r>
              <a:t>Human request • tool failure • unresolved complaint • insufficient information • repeated unsuccessful attempts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0" y="4709160"/>
            <a:ext cx="5074920" cy="105156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43600" y="4709160"/>
            <a:ext cx="64008" cy="1051560"/>
          </a:xfrm>
          <a:prstGeom prst="rect">
            <a:avLst/>
          </a:prstGeom>
          <a:solidFill>
            <a:srgbClr val="3FD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08192" y="4837176"/>
            <a:ext cx="4800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</a:defRPr>
            </a:pPr>
            <a:r>
              <a:t>Grounding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08192" y="5212080"/>
            <a:ext cx="4800600" cy="457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EBED2"/>
                </a:solidFill>
              </a:defRPr>
            </a:pPr>
            <a:r>
              <a:t>The response layer should not claim an operation succeeded unless the structured result confirms success.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EBED2"/>
                </a:solidFill>
              </a:defRPr>
            </a:pPr>
            <a:r>
              <a:t>DSTARIX TECHNO  •  AI Customer Support &amp; Ticket Automation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</a:defRPr>
            </a:pPr>
            <a:r>
              <a:t>9.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6012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EBED2"/>
                </a:solidFill>
              </a:defRPr>
            </a:pPr>
            <a:r>
              <a:t>Selected technologies and their roles in the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2514600" cy="160020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64008" cy="1600200"/>
          </a:xfrm>
          <a:prstGeom prst="rect">
            <a:avLst/>
          </a:prstGeom>
          <a:solidFill>
            <a:srgbClr val="35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45336"/>
            <a:ext cx="2240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920240"/>
            <a:ext cx="2240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AEBED2"/>
                </a:solidFill>
              </a:defRPr>
            </a:pPr>
            <a:r>
              <a:t>React 19</a:t>
            </a:r>
            <a:br/>
            <a:r>
              <a:t>Vite • Tailwind CSS</a:t>
            </a:r>
            <a:br/>
            <a:r>
              <a:t>Redux Toolkit • Axios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1417320"/>
            <a:ext cx="2514600" cy="160020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55848" y="1417320"/>
            <a:ext cx="64008" cy="1600200"/>
          </a:xfrm>
          <a:prstGeom prst="rect">
            <a:avLst/>
          </a:prstGeom>
          <a:solidFill>
            <a:srgbClr val="0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545336"/>
            <a:ext cx="2240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</a:defRPr>
            </a:pPr>
            <a:r>
              <a:t>AI 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920240"/>
            <a:ext cx="2240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AEBED2"/>
                </a:solidFill>
              </a:defRPr>
            </a:pPr>
            <a:r>
              <a:t>Python</a:t>
            </a:r>
            <a:br/>
            <a:r>
              <a:t>FastAPI • Pydantic</a:t>
            </a:r>
            <a:br/>
            <a:r>
              <a:t>Uvicorn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1417320"/>
            <a:ext cx="2514600" cy="160020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8776" y="1417320"/>
            <a:ext cx="64008" cy="1600200"/>
          </a:xfrm>
          <a:prstGeom prst="rect">
            <a:avLst/>
          </a:prstGeom>
          <a:solidFill>
            <a:srgbClr val="3FD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545336"/>
            <a:ext cx="2240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</a:defRPr>
            </a:pPr>
            <a:r>
              <a:t>AI / Orchestration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1920240"/>
            <a:ext cx="2240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AEBED2"/>
                </a:solidFill>
              </a:defRPr>
            </a:pPr>
            <a:r>
              <a:t>LangChain</a:t>
            </a:r>
            <a:br/>
            <a:r>
              <a:t>LangGraph</a:t>
            </a:r>
            <a:br/>
            <a:r>
              <a:t>Groq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1704" y="1417320"/>
            <a:ext cx="2514600" cy="160020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61704" y="1417320"/>
            <a:ext cx="64008" cy="1600200"/>
          </a:xfrm>
          <a:prstGeom prst="rect">
            <a:avLst/>
          </a:prstGeom>
          <a:solidFill>
            <a:srgbClr val="FFA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26296" y="1545336"/>
            <a:ext cx="2240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</a:defRPr>
            </a:pPr>
            <a:r>
              <a:t>Retrieval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6" y="1920240"/>
            <a:ext cx="2240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AEBED2"/>
                </a:solidFill>
              </a:defRPr>
            </a:pPr>
            <a:r>
              <a:t>MongoDB Vector Search</a:t>
            </a:r>
            <a:br/>
            <a:r>
              <a:t>BM25</a:t>
            </a:r>
            <a:br/>
            <a:r>
              <a:t>Cross-Encoder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429000"/>
            <a:ext cx="2514600" cy="160020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429000"/>
            <a:ext cx="64008" cy="1600200"/>
          </a:xfrm>
          <a:prstGeom prst="rect">
            <a:avLst/>
          </a:prstGeom>
          <a:solidFill>
            <a:srgbClr val="FF6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557016"/>
            <a:ext cx="2240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</a:defRPr>
            </a:pPr>
            <a:r>
              <a:t>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3931920"/>
            <a:ext cx="2240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AEBED2"/>
                </a:solidFill>
              </a:defRPr>
            </a:pPr>
            <a:r>
              <a:t>MongoDB</a:t>
            </a:r>
            <a:br/>
            <a:r>
              <a:t>PyMongo</a:t>
            </a:r>
            <a:br/>
            <a:r>
              <a:t>Conversation memory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55848" y="3429000"/>
            <a:ext cx="2514600" cy="160020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55848" y="3429000"/>
            <a:ext cx="64008" cy="1600200"/>
          </a:xfrm>
          <a:prstGeom prst="rect">
            <a:avLst/>
          </a:prstGeom>
          <a:solidFill>
            <a:srgbClr val="35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0440" y="3557016"/>
            <a:ext cx="2240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</a:defRPr>
            </a:pPr>
            <a:r>
              <a:t>Backend APIs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3931920"/>
            <a:ext cx="2240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AEBED2"/>
                </a:solidFill>
              </a:defRPr>
            </a:pPr>
            <a:r>
              <a:t>Node.js</a:t>
            </a:r>
            <a:br/>
            <a:r>
              <a:t>Express • Mongoose</a:t>
            </a:r>
            <a:br/>
            <a:r>
              <a:t>JWT / business APIs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08776" y="3429000"/>
            <a:ext cx="2514600" cy="160020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08776" y="3429000"/>
            <a:ext cx="64008" cy="1600200"/>
          </a:xfrm>
          <a:prstGeom prst="rect">
            <a:avLst/>
          </a:prstGeom>
          <a:solidFill>
            <a:srgbClr val="0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3368" y="3557016"/>
            <a:ext cx="2240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</a:defRPr>
            </a:pPr>
            <a:r>
              <a:t>Testing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3931920"/>
            <a:ext cx="2240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AEBED2"/>
                </a:solidFill>
              </a:defRPr>
            </a:pPr>
            <a:r>
              <a:t>Pytest</a:t>
            </a:r>
            <a:br/>
            <a:r>
              <a:t>HTTPX</a:t>
            </a:r>
            <a:br/>
            <a:r>
              <a:t>Scenario-based tests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7150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AEBED2"/>
                </a:solidFill>
              </a:defRPr>
            </a:pPr>
            <a:r>
              <a:t>Architecture principle: modular services keep AI reasoning, retrieval, business logic, and persistence independently maintainable.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EBED2"/>
                </a:solidFill>
              </a:defRPr>
            </a:pPr>
            <a:r>
              <a:t>DSTARIX TECHNO  •  AI Customer Support &amp; Ticket Automation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</a:defRPr>
            </a:pPr>
            <a:r>
              <a:t>10. Testing, Error Handling &amp;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6012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EBED2"/>
                </a:solidFill>
              </a:defRPr>
            </a:pPr>
            <a:r>
              <a:t>The assignment requires testing beyond the happy path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2514600" cy="132588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64008" cy="1325880"/>
          </a:xfrm>
          <a:prstGeom prst="rect">
            <a:avLst/>
          </a:prstGeom>
          <a:solidFill>
            <a:srgbClr val="35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45336"/>
            <a:ext cx="2240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</a:defRPr>
            </a:pPr>
            <a:r>
              <a:t>Knowledge / FAQ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920240"/>
            <a:ext cx="224028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AEBED2"/>
                </a:solidFill>
              </a:defRPr>
            </a:pPr>
            <a:r>
              <a:t>Refund policy • support documents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1417320"/>
            <a:ext cx="2514600" cy="132588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55848" y="1417320"/>
            <a:ext cx="64008" cy="1325880"/>
          </a:xfrm>
          <a:prstGeom prst="rect">
            <a:avLst/>
          </a:prstGeom>
          <a:solidFill>
            <a:srgbClr val="0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545336"/>
            <a:ext cx="2240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</a:defRPr>
            </a:pPr>
            <a:r>
              <a:t>Order / Payment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920240"/>
            <a:ext cx="224028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AEBED2"/>
                </a:solidFill>
              </a:defRPr>
            </a:pPr>
            <a:r>
              <a:t>Valid + invalid identifiers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1417320"/>
            <a:ext cx="2514600" cy="132588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8776" y="1417320"/>
            <a:ext cx="64008" cy="1325880"/>
          </a:xfrm>
          <a:prstGeom prst="rect">
            <a:avLst/>
          </a:prstGeom>
          <a:solidFill>
            <a:srgbClr val="3FD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545336"/>
            <a:ext cx="2240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</a:defRPr>
            </a:pPr>
            <a:r>
              <a:t>Tickets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1920240"/>
            <a:ext cx="224028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AEBED2"/>
                </a:solidFill>
              </a:defRPr>
            </a:pPr>
            <a:r>
              <a:t>Create complaint • retrieve complaints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1704" y="1417320"/>
            <a:ext cx="2514600" cy="132588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61704" y="1417320"/>
            <a:ext cx="64008" cy="1325880"/>
          </a:xfrm>
          <a:prstGeom prst="rect">
            <a:avLst/>
          </a:prstGeom>
          <a:solidFill>
            <a:srgbClr val="FF6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26296" y="1545336"/>
            <a:ext cx="2240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</a:defRPr>
            </a:pPr>
            <a:r>
              <a:t>Escalation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6" y="1920240"/>
            <a:ext cx="224028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AEBED2"/>
                </a:solidFill>
              </a:defRPr>
            </a:pPr>
            <a:r>
              <a:t>Human request • unresolved issue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108960"/>
            <a:ext cx="2514600" cy="132588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108960"/>
            <a:ext cx="64008" cy="1325880"/>
          </a:xfrm>
          <a:prstGeom prst="rect">
            <a:avLst/>
          </a:prstGeom>
          <a:solidFill>
            <a:srgbClr val="FFA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236976"/>
            <a:ext cx="2240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</a:defRPr>
            </a:pPr>
            <a:r>
              <a:t>RAG failures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3611880"/>
            <a:ext cx="224028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AEBED2"/>
                </a:solidFill>
              </a:defRPr>
            </a:pPr>
            <a:r>
              <a:t>No results • retrieval failure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55848" y="3108960"/>
            <a:ext cx="2514600" cy="132588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55848" y="3108960"/>
            <a:ext cx="64008" cy="1325880"/>
          </a:xfrm>
          <a:prstGeom prst="rect">
            <a:avLst/>
          </a:prstGeom>
          <a:solidFill>
            <a:srgbClr val="FF6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0440" y="3236976"/>
            <a:ext cx="2240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</a:defRPr>
            </a:pPr>
            <a:r>
              <a:t>Tool failures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3611880"/>
            <a:ext cx="224028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AEBED2"/>
                </a:solidFill>
              </a:defRPr>
            </a:pPr>
            <a:r>
              <a:t>Invalid parameters • backend failure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08776" y="3108960"/>
            <a:ext cx="2514600" cy="132588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08776" y="3108960"/>
            <a:ext cx="64008" cy="1325880"/>
          </a:xfrm>
          <a:prstGeom prst="rect">
            <a:avLst/>
          </a:prstGeom>
          <a:solidFill>
            <a:srgbClr val="35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3368" y="3236976"/>
            <a:ext cx="2240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</a:defRPr>
            </a:pPr>
            <a:r>
              <a:t>Conversation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3611880"/>
            <a:ext cx="224028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AEBED2"/>
                </a:solidFill>
              </a:defRPr>
            </a:pPr>
            <a:r>
              <a:t>Follow-up + multi-request conversation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61704" y="3108960"/>
            <a:ext cx="2514600" cy="132588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61704" y="3108960"/>
            <a:ext cx="64008" cy="1325880"/>
          </a:xfrm>
          <a:prstGeom prst="rect">
            <a:avLst/>
          </a:prstGeom>
          <a:solidFill>
            <a:srgbClr val="0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26296" y="3236976"/>
            <a:ext cx="2240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</a:defRPr>
            </a:pPr>
            <a:r>
              <a:t>Unknown input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26296" y="3611880"/>
            <a:ext cx="224028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AEBED2"/>
                </a:solidFill>
              </a:defRPr>
            </a:pPr>
            <a:r>
              <a:t>Fallback / clarification behavior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4983480"/>
            <a:ext cx="10515600" cy="82296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85800" y="4983480"/>
            <a:ext cx="64008" cy="822960"/>
          </a:xfrm>
          <a:prstGeom prst="rect">
            <a:avLst/>
          </a:prstGeom>
          <a:solidFill>
            <a:srgbClr val="3FD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392" y="5111496"/>
            <a:ext cx="10241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</a:defRPr>
            </a:pPr>
            <a:r>
              <a:t>Reliability approach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" y="5486400"/>
            <a:ext cx="10241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AEBED2"/>
                </a:solidFill>
              </a:defRPr>
            </a:pPr>
            <a:r>
              <a:t>Validate requests → handle missing information → capture tool/retrieval errors → provide meaningful fallback → escalate when appropriate → persist the conversation.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EBED2"/>
                </a:solidFill>
              </a:defRPr>
            </a:pPr>
            <a:r>
              <a:t>DSTARIX TECHNO  •  AI Customer Support &amp; Ticket Automation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</a:defRPr>
            </a:pPr>
            <a:r>
              <a:t>11. Final Demonstration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6012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EBED2"/>
                </a:solidFill>
              </a:defRPr>
            </a:pPr>
            <a:r>
              <a:t>A practical demo sequence for a company technical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2514600" cy="141732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64008" cy="1417320"/>
          </a:xfrm>
          <a:prstGeom prst="rect">
            <a:avLst/>
          </a:prstGeom>
          <a:solidFill>
            <a:srgbClr val="35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453895"/>
            <a:ext cx="2240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</a:defRPr>
            </a:pPr>
            <a:r>
              <a:t>01  Knowledge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828800"/>
            <a:ext cx="2240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EBED2"/>
                </a:solidFill>
              </a:defRPr>
            </a:pPr>
            <a:r>
              <a:t>Show RAG retrieval + grounded answer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1325880"/>
            <a:ext cx="2514600" cy="141732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55848" y="1325880"/>
            <a:ext cx="64008" cy="1417320"/>
          </a:xfrm>
          <a:prstGeom prst="rect">
            <a:avLst/>
          </a:prstGeom>
          <a:solidFill>
            <a:srgbClr val="0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453895"/>
            <a:ext cx="2240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</a:defRPr>
            </a:pPr>
            <a:r>
              <a:t>02  Order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828800"/>
            <a:ext cx="2240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EBED2"/>
                </a:solidFill>
              </a:defRPr>
            </a:pPr>
            <a:r>
              <a:t>Show intent + order tool + real result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1325880"/>
            <a:ext cx="2514600" cy="141732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8776" y="1325880"/>
            <a:ext cx="64008" cy="1417320"/>
          </a:xfrm>
          <a:prstGeom prst="rect">
            <a:avLst/>
          </a:prstGeom>
          <a:solidFill>
            <a:srgbClr val="3FD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453895"/>
            <a:ext cx="2240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</a:defRPr>
            </a:pPr>
            <a:r>
              <a:t>03  Payment issue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1828800"/>
            <a:ext cx="2240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EBED2"/>
                </a:solidFill>
              </a:defRPr>
            </a:pPr>
            <a:r>
              <a:t>Show operational tool integration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1704" y="1325880"/>
            <a:ext cx="2514600" cy="141732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61704" y="1325880"/>
            <a:ext cx="64008" cy="1417320"/>
          </a:xfrm>
          <a:prstGeom prst="rect">
            <a:avLst/>
          </a:prstGeom>
          <a:solidFill>
            <a:srgbClr val="FFA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26296" y="1453895"/>
            <a:ext cx="2240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</a:defRPr>
            </a:pPr>
            <a:r>
              <a:t>04  Multi-intent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6" y="1828800"/>
            <a:ext cx="2240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EBED2"/>
                </a:solidFill>
              </a:defRPr>
            </a:pPr>
            <a:r>
              <a:t>Combine knowledge + business operations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154680"/>
            <a:ext cx="2514600" cy="141732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154680"/>
            <a:ext cx="64008" cy="1417320"/>
          </a:xfrm>
          <a:prstGeom prst="rect">
            <a:avLst/>
          </a:prstGeom>
          <a:solidFill>
            <a:srgbClr val="35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282696"/>
            <a:ext cx="2240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</a:defRPr>
            </a:pPr>
            <a:r>
              <a:t>05  Memory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3657600"/>
            <a:ext cx="2240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EBED2"/>
                </a:solidFill>
              </a:defRPr>
            </a:pPr>
            <a:r>
              <a:t>Follow up without repeating identifiers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55848" y="3154680"/>
            <a:ext cx="2514600" cy="141732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55848" y="3154680"/>
            <a:ext cx="64008" cy="1417320"/>
          </a:xfrm>
          <a:prstGeom prst="rect">
            <a:avLst/>
          </a:prstGeom>
          <a:solidFill>
            <a:srgbClr val="FF6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0440" y="3282696"/>
            <a:ext cx="2240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</a:defRPr>
            </a:pPr>
            <a:r>
              <a:t>06  Ticket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3657600"/>
            <a:ext cx="2240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EBED2"/>
                </a:solidFill>
              </a:defRPr>
            </a:pPr>
            <a:r>
              <a:t>Create support complaint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08776" y="3154680"/>
            <a:ext cx="2514600" cy="141732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08776" y="3154680"/>
            <a:ext cx="64008" cy="1417320"/>
          </a:xfrm>
          <a:prstGeom prst="rect">
            <a:avLst/>
          </a:prstGeom>
          <a:solidFill>
            <a:srgbClr val="FF6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3368" y="3282696"/>
            <a:ext cx="2240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</a:defRPr>
            </a:pPr>
            <a:r>
              <a:t>07  Escalation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3657600"/>
            <a:ext cx="2240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EBED2"/>
                </a:solidFill>
              </a:defRPr>
            </a:pPr>
            <a:r>
              <a:t>Request human support / show escalation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61704" y="3154680"/>
            <a:ext cx="2514600" cy="141732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61704" y="3154680"/>
            <a:ext cx="64008" cy="1417320"/>
          </a:xfrm>
          <a:prstGeom prst="rect">
            <a:avLst/>
          </a:prstGeom>
          <a:solidFill>
            <a:srgbClr val="0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26296" y="3282696"/>
            <a:ext cx="2240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</a:defRPr>
            </a:pPr>
            <a:r>
              <a:t>08  Error case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26296" y="3657600"/>
            <a:ext cx="2240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EBED2"/>
                </a:solidFill>
              </a:defRPr>
            </a:pPr>
            <a:r>
              <a:t>Show fallback behavior and safe response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669280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35D2FF"/>
                </a:solidFill>
              </a:defRPr>
            </a:pPr>
            <a:r>
              <a:t>The project demonstrates the full chain: RAG → Agent → Tools → Memory → APIs → Testing → Documentation → Demonstration.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EBED2"/>
                </a:solidFill>
              </a:defRPr>
            </a:pPr>
            <a:r>
              <a:t>DSTARIX TECHNO  •  AI Customer Support &amp; Ticket Automation  •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35D2FF"/>
                </a:solidFill>
              </a:defRPr>
            </a:pPr>
            <a:r>
              <a:t>TECHNICAL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700" b="1">
                <a:solidFill>
                  <a:srgbClr val="F8FAFC"/>
                </a:solidFill>
              </a:defRPr>
            </a:pPr>
            <a:r>
              <a:t>A production-oriented customer-support architecture</a:t>
            </a:r>
            <a:br/>
            <a:r>
              <a:t>built around grounded AI and real business operations.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3337560"/>
            <a:ext cx="1993392" cy="132588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3337560"/>
            <a:ext cx="64008" cy="1325880"/>
          </a:xfrm>
          <a:prstGeom prst="rect">
            <a:avLst/>
          </a:prstGeom>
          <a:solidFill>
            <a:srgbClr val="00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3465576"/>
            <a:ext cx="1719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</a:defRPr>
            </a:pPr>
            <a:r>
              <a:t>UNDERSTAND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3840480"/>
            <a:ext cx="1719072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AEBED2"/>
                </a:solidFill>
              </a:defRPr>
            </a:pPr>
            <a:r>
              <a:t>Intent + decomposition + entity extraction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53512" y="3337560"/>
            <a:ext cx="1993392" cy="132588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53512" y="3337560"/>
            <a:ext cx="64008" cy="1325880"/>
          </a:xfrm>
          <a:prstGeom prst="rect">
            <a:avLst/>
          </a:prstGeom>
          <a:solidFill>
            <a:srgbClr val="35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18104" y="3465576"/>
            <a:ext cx="1719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</a:defRPr>
            </a:pPr>
            <a:r>
              <a:t>RETRIEVE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18104" y="3840480"/>
            <a:ext cx="1719072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AEBED2"/>
                </a:solidFill>
              </a:defRPr>
            </a:pPr>
            <a:r>
              <a:t>MongoDB Vector Search + BM25 + reranking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21224" y="3337560"/>
            <a:ext cx="1993392" cy="132588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21224" y="3337560"/>
            <a:ext cx="64008" cy="1325880"/>
          </a:xfrm>
          <a:prstGeom prst="rect">
            <a:avLst/>
          </a:prstGeom>
          <a:solidFill>
            <a:srgbClr val="3FD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85816" y="3465576"/>
            <a:ext cx="1719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</a:defRPr>
            </a:pPr>
            <a:r>
              <a:t>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85816" y="3840480"/>
            <a:ext cx="1719072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AEBED2"/>
                </a:solidFill>
              </a:defRPr>
            </a:pPr>
            <a:r>
              <a:t>Business tools through Node.js APIs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88936" y="3337560"/>
            <a:ext cx="1993392" cy="132588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88936" y="3337560"/>
            <a:ext cx="64008" cy="1325880"/>
          </a:xfrm>
          <a:prstGeom prst="rect">
            <a:avLst/>
          </a:prstGeom>
          <a:solidFill>
            <a:srgbClr val="FFA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53527" y="3465576"/>
            <a:ext cx="1719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</a:defRPr>
            </a:pPr>
            <a:r>
              <a:t>REMEMBER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527" y="3840480"/>
            <a:ext cx="1719072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AEBED2"/>
                </a:solidFill>
              </a:defRPr>
            </a:pPr>
            <a:r>
              <a:t>MongoDB conversation memory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56648" y="3337560"/>
            <a:ext cx="1993392" cy="1325880"/>
          </a:xfrm>
          <a:prstGeom prst="roundRect">
            <a:avLst/>
          </a:prstGeom>
          <a:solidFill>
            <a:srgbClr val="162A44"/>
          </a:solidFill>
          <a:ln>
            <a:solidFill>
              <a:srgbClr val="2B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56648" y="3337560"/>
            <a:ext cx="64008" cy="1325880"/>
          </a:xfrm>
          <a:prstGeom prst="rect">
            <a:avLst/>
          </a:prstGeom>
          <a:solidFill>
            <a:srgbClr val="FF6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21240" y="3465576"/>
            <a:ext cx="1719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8FAFC"/>
                </a:solidFill>
              </a:defRPr>
            </a:pPr>
            <a:r>
              <a:t>ESCALATE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3840480"/>
            <a:ext cx="1719072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AEBED2"/>
                </a:solidFill>
              </a:defRPr>
            </a:pPr>
            <a:r>
              <a:t>Human support when automation is insufficient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6636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Thank You</a:t>
            </a:r>
            <a:br/>
            <a:r>
              <a:t>Questions &amp; Technical Discussion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98932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AEBED2"/>
                </a:solidFill>
              </a:defRPr>
            </a:pPr>
            <a:r>
              <a:t>AI Customer Support &amp; Ticket Automation System • DStarix Techno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